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服务人次（万人次）</c:v>
                </c:pt>
              </c:strCache>
            </c:strRef>
          </c:tx>
          <c:spPr>
            <a:solidFill>
              <a:srgbClr val="1C6951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82</c:v>
                </c:pt>
                <c:pt idx="2">
                  <c:v>106</c:v>
                </c:pt>
                <c:pt idx="3">
                  <c:v>125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342C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1746D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1746D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ID: S01</a:t>
            </a:r>
          </a:p>
          <a:p>
            <a:r>
              <a:t>Layout: cover</a:t>
            </a:r>
          </a:p>
          <a:p>
            <a:r>
              <a:t>Sources: src_c7b1f9d260d1, src_99e07df0799a</a:t>
            </a:r>
          </a:p>
          <a:p>
            <a:r>
              <a:t>DRAFT: not approved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ID: S02</a:t>
            </a:r>
          </a:p>
          <a:p>
            <a:r>
              <a:t>Layout: bullets</a:t>
            </a:r>
          </a:p>
          <a:p>
            <a:r>
              <a:t>Sources: src_c7b1f9d260d1, src_99e07df0799a</a:t>
            </a:r>
          </a:p>
          <a:p>
            <a:r>
              <a:t>DRAFT: not approved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ID: S03</a:t>
            </a:r>
          </a:p>
          <a:p>
            <a:r>
              <a:t>Layout: metrics</a:t>
            </a:r>
          </a:p>
          <a:p>
            <a:r>
              <a:t>Sources: src_c7b1f9d260d1, src_99e07df0799a</a:t>
            </a:r>
          </a:p>
          <a:p>
            <a:r>
              <a:t>DRAFT: not approved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ID: S04</a:t>
            </a:r>
          </a:p>
          <a:p>
            <a:r>
              <a:t>Layout: chart</a:t>
            </a:r>
          </a:p>
          <a:p>
            <a:r>
              <a:t>Sources: src_c7b1f9d260d1, src_99e07df0799a</a:t>
            </a:r>
          </a:p>
          <a:p>
            <a:r>
              <a:t>DRAFT: not approved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ID: S05</a:t>
            </a:r>
          </a:p>
          <a:p>
            <a:r>
              <a:t>Layout: closing</a:t>
            </a:r>
          </a:p>
          <a:p>
            <a:r>
              <a:t>Sources: src_c7b1f9d260d1, src_99e07df0799a</a:t>
            </a:r>
          </a:p>
          <a:p>
            <a:r>
              <a:t>DRAFT: not approved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4652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交通文旅融合 · 示例成果汇报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46520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S01   / 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DRAFT · 待确认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50976"/>
            <a:ext cx="7772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6951"/>
                </a:solidFill>
                <a:latin typeface="Microsoft YaHei"/>
              </a:rPr>
              <a:t>FOREST-EDITORIAL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877824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700" b="1">
                <a:solidFill>
                  <a:srgbClr val="17342C"/>
                </a:solidFill>
                <a:latin typeface="Microsoft YaHei"/>
              </a:rPr>
              <a:t>交通文旅融合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526280"/>
            <a:ext cx="9875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61746D"/>
                </a:solidFill>
                <a:latin typeface="Microsoft YaHei"/>
              </a:rPr>
              <a:t>从客户资料到可编辑演示文稿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192024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C49A41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4652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交通文旅融合 · 示例成果汇报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46520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S02   / 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DRAFT · 待确认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100023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7342C"/>
                </a:solidFill>
                <a:latin typeface="Microsoft YaHei"/>
              </a:rPr>
              <a:t>以统一流程减少重复制作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80160"/>
            <a:ext cx="10927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61746D"/>
                </a:solidFill>
                <a:latin typeface="Microsoft YaHei"/>
              </a:rPr>
              <a:t>内容规划、视觉确认与页面生产分别保存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640080" cy="1264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C695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9966960" cy="1246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7342C"/>
                </a:solidFill>
                <a:latin typeface="Microsoft YaHei"/>
              </a:rPr>
              <a:t>先整理资料与数据口径，再确定每页需要表达的结论。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68040"/>
            <a:ext cx="640080" cy="1264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C6951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68040"/>
            <a:ext cx="9966960" cy="1246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7342C"/>
                </a:solidFill>
                <a:latin typeface="Microsoft YaHei"/>
              </a:rPr>
              <a:t>用代表性样张确认风格，将字体、配色和组件固定下来。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24400"/>
            <a:ext cx="640080" cy="1264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C6951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724400"/>
            <a:ext cx="9966960" cy="1246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17342C"/>
                </a:solidFill>
                <a:latin typeface="Microsoft YaHei"/>
              </a:rPr>
              <a:t>后续按页面和来源处理修改，保留已确认成果。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4652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交通文旅融合 · 示例成果汇报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46520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S03   / 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DRAFT · 待确认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100023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7342C"/>
                </a:solidFill>
                <a:latin typeface="Microsoft YaHei"/>
              </a:rPr>
              <a:t>三项建设成果形成服务基础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80160"/>
            <a:ext cx="10927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61746D"/>
                </a:solidFill>
                <a:latin typeface="Microsoft YaHei"/>
              </a:rPr>
              <a:t>每个数字都保留可回查的原始来源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3505200" cy="2514600"/>
          </a:xfrm>
          <a:prstGeom prst="roundRect">
            <a:avLst/>
          </a:prstGeom>
          <a:solidFill>
            <a:srgbClr val="1C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834640"/>
            <a:ext cx="306628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300" b="1">
                <a:solidFill>
                  <a:srgbClr val="F7F9FC"/>
                </a:solidFill>
                <a:latin typeface="Microsoft YaHei"/>
              </a:rPr>
              <a:t>12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913632"/>
            <a:ext cx="306628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7F9FC"/>
                </a:solidFill>
                <a:latin typeface="Microsoft YaHei"/>
              </a:rPr>
              <a:t>示范线路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423160"/>
            <a:ext cx="3505200" cy="2514600"/>
          </a:xfrm>
          <a:prstGeom prst="roundRect">
            <a:avLst/>
          </a:prstGeom>
          <a:solidFill>
            <a:srgbClr val="1C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616" y="2834640"/>
            <a:ext cx="306628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300" b="1">
                <a:solidFill>
                  <a:srgbClr val="F7F9FC"/>
                </a:solidFill>
                <a:latin typeface="Microsoft YaHei"/>
              </a:rPr>
              <a:t>8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7616" y="3913632"/>
            <a:ext cx="306628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7F9FC"/>
                </a:solidFill>
                <a:latin typeface="Microsoft YaHei"/>
              </a:rPr>
              <a:t>重点景区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423160"/>
            <a:ext cx="3505200" cy="2514600"/>
          </a:xfrm>
          <a:prstGeom prst="roundRect">
            <a:avLst/>
          </a:prstGeom>
          <a:solidFill>
            <a:srgbClr val="1C6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1416" y="2834640"/>
            <a:ext cx="306628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300" b="1">
                <a:solidFill>
                  <a:srgbClr val="F7F9FC"/>
                </a:solidFill>
                <a:latin typeface="Microsoft YaHei"/>
              </a:rPr>
              <a:t>3 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1416" y="3913632"/>
            <a:ext cx="306628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7F9FC"/>
                </a:solidFill>
                <a:latin typeface="Microsoft YaHei"/>
              </a:rPr>
              <a:t>线上服务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1746D"/>
                </a:solidFill>
                <a:latin typeface="Microsoft YaHei"/>
              </a:rPr>
              <a:t>示例数字取自随项目附带的虚构资料。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4652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交通文旅融合 · 示例成果汇报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46520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S04   / 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DRAFT · 待确认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100023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7342C"/>
                </a:solidFill>
                <a:latin typeface="Microsoft YaHei"/>
              </a:rPr>
              <a:t>示例服务人次逐年增长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80160"/>
            <a:ext cx="10927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61746D"/>
                </a:solidFill>
                <a:latin typeface="Microsoft YaHei"/>
              </a:rPr>
              <a:t>图表由结构化数据生成，可在 PowerPoint 中编辑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2057400"/>
          <a:ext cx="80010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0" y="2331720"/>
            <a:ext cx="2560320" cy="3383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7342C"/>
                </a:solidFill>
                <a:latin typeface="Microsoft YaHei"/>
              </a:rPr>
              <a:t>统计单位：万人次；全部为演示数据。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4652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交通文旅融合 · 示例成果汇报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6446520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S05   / 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1746D"/>
                </a:solidFill>
                <a:latin typeface="Microsoft YaHei"/>
              </a:rPr>
              <a:t>DRAFT · 待确认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106984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500" b="1">
                <a:solidFill>
                  <a:srgbClr val="17342C"/>
                </a:solidFill>
                <a:latin typeface="Microsoft YaHei"/>
              </a:rPr>
              <a:t>从样张确认走向稳定交付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1C6951"/>
                </a:solidFill>
                <a:latin typeface="Microsoft YaHei"/>
              </a:rPr>
              <a:t>保持内容可追踪、风格可复用、修改有范围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0"/>
            <a:ext cx="10515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1746D"/>
                </a:solidFill>
                <a:latin typeface="Microsoft YaHei"/>
              </a:rPr>
              <a:t>下一步：导入真实客户资料，开始新的订单。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1746D"/>
                </a:solidFill>
                <a:latin typeface="Microsoft YaHei"/>
              </a:rPr>
              <a:t>最终交付前，请在客户使用的软件中检查字体与版面。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交通文旅融合 · 示例成果汇报</dc:title>
  <dc:subject>DRAFT — customer confirmation required</dc:subject>
  <dc:creator>PPT Order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